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7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7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第08小组。今天我们将为大家汇报我们的期末项目——O2O商城小程序接口测试。本次汇报将涵盖我们项目的整体流程、技术实现、测试成果以及遇到的挑战和解决方案。希望通过这次汇报，能让大家对我们的工作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分为五个部分。首先，我们会介绍项目的整体情况和团队分工。接着，重点阐述我们的需求分析过程和测试用例设计。第三部分将展示我们自动化测试的实现细节，包括工具选型和Jenkins持续集成。第四部分会呈现我们的测试结果和缺陷分析。最后，我们会对整个项目进行总结，并分享我们的心得体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本次测试的系统是sgave-mall-wx-api，一个O2O商城小程序的后端接口。我们梳理了系统中的22个模块，覆盖了74个核心业务接口。整个项目遵循标准的测试流程，从需求分析到最终的报告输出。这是我们团队的分工情况，每位成员都各司其职，高效协作，共同完成了本次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分析阶段，我们首先梳理了被测系统的业务架构，明确了鉴权、商品、购物车、订单和售后这五大核心链路。为了更清晰地展示所有接口及其关系，我们绘制了这张包含5个层级的思维导图。它详细展示了从模块到具体接口，再到请求参数、响应字段和业务依赖的完整信息，为后续的用例设计和自动化脚本开发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用例设计阶段，我们综合运用了多种测试方法，包括等价类划分、边界值分析和场景法，以确保测试的全面性。特别地，我们还针对安全问题设计了专门的测试用例。最终，我们为74个接口设计了超过222条测试用例，覆盖了正常、异常、边界和安全等多种场景。这里展示的是我们用例设计的一个片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自动化测试，我们选择了Python结合pytest和requests库的方案。这个组合非常灵活，能够满足我们复杂的测试需求。这是我们的工程目录结构，清晰地分离了不同模块的测试用例。在核心实现上，我们通过夹具自动管理token，并封装了通用的断言方法，同时利用参数化技术高效地实现了多场景覆盖。这是我们在本地执行测试的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测试的自动化和持续性，我们搭建了Jenkins持续集成流水线。这个流水线会自动拉取最新代码，安装依赖，执行测试，并最终生成和归档测试报告。我们通过Jenkinsfile定义了整个流程，并设置了每周一早上8点的定时触发。从构建历史可以看到，我们的流水线稳定运行，能够及时发现代码中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过程中，我们共发现了12个缺陷。其中，高、中、低严重程度的缺陷分布如图所示。我们特别关注了安全和性能问题，发现了2条安全缺陷，包括SQL注入和越权问题，以及2条并发相关的性能缺陷，如库存超卖。这些问题都已记录在缺陷清单中，并附有详细的复现步骤和截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自动化测试生成的HTML报告。报告显示，总共执行了222条用例，通过率为94.6%。失败的12条用例正好对应我们之前发现的12个缺陷。通过这份报告，我们可以清晰地看到测试的覆盖范围和质量状况，证明我们的自动化测试是行之有效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过程中，我们遇到了一些挑战。首先是接口鉴权和依赖问题，我们通过pytest的夹具功能优雅地解决了Token的传递。其次是Jenkins环境的配置问题，通过仔细排查日志和配置，我们解决了中文乱码等问题。最后，对于复杂的业务场景，我们采用场景法来设计测试用例，确保了核心业务流程的完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次项目，我们不仅将课堂上学到的理论知识付诸实践，更在技术能力和团队协作方面得到了极大的锻炼。我们完整地走通了接口测试的全流程，对自动化测试和持续集成有了更深的理解。当然，我们也认识到了一些不足，比如测试介入时间可以更早，性能测试可以更深入。这些都将是我们未来学习和改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我的汇报到此结束，感谢各位老师和同学的聆听。我们准备了一些备用材料，欢迎大家提问。谢谢！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6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15.png"/><Relationship Id="rId23" Type="http://schemas.openxmlformats.org/officeDocument/2006/relationships/image" Target="../media/image14.png"/><Relationship Id="rId22" Type="http://schemas.openxmlformats.org/officeDocument/2006/relationships/image" Target="../media/image13.png"/><Relationship Id="rId21" Type="http://schemas.openxmlformats.org/officeDocument/2006/relationships/image" Target="../media/image12.png"/><Relationship Id="rId20" Type="http://schemas.openxmlformats.org/officeDocument/2006/relationships/tags" Target="../tags/tag12.xml"/><Relationship Id="rId2" Type="http://schemas.openxmlformats.org/officeDocument/2006/relationships/tags" Target="../tags/tag2.xml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302000" cy="3302000"/>
          </a:xfrm>
          <a:prstGeom prst="ellipse">
            <a:avLst/>
          </a:prstGeom>
          <a:solidFill>
            <a:srgbClr val="9013F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334000"/>
            <a:ext cx="2794000" cy="2794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2982" y="508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O2O商城小程序接口测试项目答辩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5371">
            <a:off x="1869356" y="20256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123356" y="3605295"/>
            <a:ext cx="3810000" cy="710477"/>
          </a:xfrm>
          <a:prstGeom prst="roundRect">
            <a:avLst>
              <a:gd name="adj" fmla="val 214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3614905"/>
            <a:ext cx="3810000" cy="700867"/>
          </a:xfrm>
          <a:prstGeom prst="roundRect">
            <a:avLst>
              <a:gd name="adj" fmla="val 2174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2026年07月07日</a:t>
            </a:r>
            <a:endParaRPr lang="en-US" sz="14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9013F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" y="1778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项目概述与团队分工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841500"/>
            <a:ext cx="3048000" cy="101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需求分析与用例设计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184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915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915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测试实现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2940" y="4254500"/>
            <a:ext cx="3429000" cy="1079500"/>
          </a:xfrm>
          <a:prstGeom prst="roundRect">
            <a:avLst>
              <a:gd name="adj" fmla="val 23582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9470" y="482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测试结果与分析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97600" y="4254500"/>
            <a:ext cx="3048000" cy="1079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881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88100" y="482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项目概述与团队分工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143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项目整体流程：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 → 用例设计 → 执行测试 → 缺陷管理 → 报告输出。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35000" y="1853754"/>
          <a:ext cx="10414000" cy="438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302000"/>
                <a:gridCol w="2794000"/>
                <a:gridCol w="2794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姓名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负责模块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核心任务(</a:t>
                      </a:r>
                      <a:r>
                        <a:rPr lang="zh-CN" altLang="en-US" sz="14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分模块</a:t>
                      </a:r>
                      <a:r>
                        <a:rPr lang="en-US" sz="14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主要产出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舒</a:t>
                      </a:r>
                      <a:r>
                        <a:rPr lang="zh-CN" alt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辉</a:t>
                      </a: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鉴权基础模块 (Auth, Home, Catalog)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思维导图、用例、脚本</a:t>
                      </a:r>
                      <a:endParaRPr lang="zh-CN" altLang="en-US" sz="1200" b="0" i="0" u="none" strike="noStrike">
                        <a:solidFill>
                          <a:srgbClr val="37415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史</a:t>
                      </a: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林鑫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商品与营销资产模块 (Goods, Brand, Topic, Coupon, Collect)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思维导图、用例、脚本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PPT、</a:t>
                      </a:r>
                      <a:r>
                        <a:rPr lang="en-US" sz="1100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测试报告.docx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毛晓雨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交易核心模块 (Cart, Order, Aftersale)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思维导图、用例、脚本、缺陷记录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统一配置、</a:t>
                      </a:r>
                      <a:r>
                        <a:rPr lang="en-US" sz="1200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Jenkins环境与脚本</a:t>
                      </a:r>
                      <a:r>
                        <a:rPr lang="zh-CN" altLang="en-US" sz="1200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、小组分工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张钰松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用户与评论互动模块 (Comment, Address, GroupOn)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思维导图、用例、脚本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整合思维导图 (XMind + PNG)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黄玉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用户辅助工具模块 (Search, Footprint, History)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思维导图、用例、脚本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整合测试用例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易琴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零碎轻量模块 + 加分存储接口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思维导图、用例、脚本、缺陷记录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缺陷清单.xlsx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1905000" cy="1905000"/>
          </a:xfrm>
          <a:prstGeom prst="ellipse">
            <a:avLst/>
          </a:prstGeom>
          <a:solidFill>
            <a:srgbClr val="9013F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被测系统与接口思维导图</a:t>
            </a:r>
            <a:endParaRPr lang="en-US" sz="1100"/>
          </a:p>
        </p:txBody>
      </p:sp>
      <p:pic>
        <p:nvPicPr>
          <p:cNvPr id="4" name="图片 3" descr="O2O全接口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249555"/>
            <a:ext cx="6806565" cy="6358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8982" y="1078386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测试用例设计</a:t>
            </a:r>
            <a:r>
              <a:rPr lang="zh-CN" altLang="en-US" sz="32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3200" b="1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625" y="2105660"/>
            <a:ext cx="8950325" cy="39249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445000" cy="4445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175000" cy="3175000"/>
          </a:xfrm>
          <a:prstGeom prst="ellipse">
            <a:avLst/>
          </a:prstGeom>
          <a:solidFill>
            <a:srgbClr val="9013F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</a:t>
            </a:r>
            <a:r>
              <a:rPr lang="en-US" sz="3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r>
              <a:rPr lang="zh-CN" altLang="en-US" sz="3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脚本展示</a:t>
            </a:r>
            <a:endParaRPr lang="zh-CN" altLang="en-US" sz="32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99970" y="1540510"/>
            <a:ext cx="7592060" cy="4744085"/>
            <a:chOff x="3622" y="2426"/>
            <a:chExt cx="11956" cy="7471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22" y="2426"/>
              <a:ext cx="11956" cy="5949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7499" y="8979"/>
              <a:ext cx="554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chemeClr val="tx2">
                      <a:lumMod val="50000"/>
                    </a:schemeClr>
                  </a:solidFill>
                </a:rPr>
                <a:t>Python+pytest+requests</a:t>
              </a:r>
              <a:endParaRPr lang="en-US" altLang="zh-CN" sz="1600">
                <a:solidFill>
                  <a:schemeClr val="tx2">
                    <a:lumMod val="50000"/>
                  </a:schemeClr>
                </a:solidFill>
              </a:endParaRPr>
            </a:p>
            <a:p>
              <a:endParaRPr lang="en-US" altLang="zh-CN" sz="160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794000" cy="2794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5588000"/>
            <a:ext cx="2286000" cy="2286000"/>
          </a:xfrm>
          <a:prstGeom prst="ellipse">
            <a:avLst/>
          </a:prstGeom>
          <a:solidFill>
            <a:srgbClr val="9013F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Jenkins持续集成流水线搭建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587500"/>
            <a:ext cx="2603500" cy="1840865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zh-CN" altLang="en-US"/>
              <a:t>本次项目为本地 </a:t>
            </a:r>
            <a:r>
              <a:rPr lang="en-US" altLang="zh-CN"/>
              <a:t>Python </a:t>
            </a:r>
            <a:r>
              <a:rPr lang="zh-CN" altLang="en-US"/>
              <a:t>接口自动化工程，</a:t>
            </a:r>
            <a:r>
              <a:rPr lang="en-US" altLang="zh-CN"/>
              <a:t>Jenkins </a:t>
            </a:r>
            <a:r>
              <a:rPr lang="zh-CN" altLang="en-US"/>
              <a:t>直接读取本地已存在的测试代码，无需远程仓库拉取步骤</a:t>
            </a:r>
            <a:endParaRPr lang="zh-CN" altLang="en-US"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52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333500" y="1752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代码拉取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3492500" y="1587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/>
              <a:t>pytest、requests </a:t>
            </a:r>
            <a:r>
              <a:rPr lang="zh-CN" altLang="en-US"/>
              <a:t>依赖</a:t>
            </a:r>
            <a:endParaRPr lang="zh-CN" altLang="en-US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3000" y="1752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064000" y="1752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环境初始化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6223000" y="1587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1752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6794500" y="1752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自动化测试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953500" y="1587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44000" y="1752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9525000" y="1752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产物归档</a:t>
            </a:r>
            <a:endParaRPr lang="en-US" sz="11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3665855"/>
            <a:ext cx="2630805" cy="16846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36620" y="3545205"/>
            <a:ext cx="2555875" cy="19265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66815" y="3545205"/>
            <a:ext cx="2215515" cy="22479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47480" y="3545205"/>
            <a:ext cx="2727325" cy="1487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9013F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缺陷管理与缺陷分析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18795" y="1433195"/>
            <a:ext cx="4606925" cy="12065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本周期测试累计发现缺陷总数13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项有效缺陷</a:t>
            </a:r>
            <a:endParaRPr lang="en-US" sz="1600" b="0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5657850" y="1433195"/>
            <a:ext cx="6026150" cy="4739005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6591300" y="143319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安全类高危缺陷 (项)</a:t>
            </a:r>
            <a:endParaRPr lang="en-US" sz="1100"/>
          </a:p>
        </p:txBody>
      </p:sp>
      <p:graphicFrame>
        <p:nvGraphicFramePr>
          <p:cNvPr id="14" name="表格 13"/>
          <p:cNvGraphicFramePr/>
          <p:nvPr>
            <p:custDataLst>
              <p:tags r:id="rId3"/>
            </p:custDataLst>
          </p:nvPr>
        </p:nvGraphicFramePr>
        <p:xfrm>
          <a:off x="5740400" y="1977390"/>
          <a:ext cx="5842000" cy="3818890"/>
        </p:xfrm>
        <a:graphic>
          <a:graphicData uri="http://schemas.openxmlformats.org/drawingml/2006/table">
            <a:tbl>
              <a:tblPr/>
              <a:tblGrid>
                <a:gridCol w="1965325"/>
                <a:gridCol w="1929130"/>
                <a:gridCol w="1947545"/>
              </a:tblGrid>
              <a:tr h="768350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缺陷编号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缺陷标题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严重程度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9540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BUG-001</a:t>
                      </a:r>
                      <a:endParaRPr lang="en-US" altLang="zh-CN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购物车商品数量接口缺少鉴权校验，游客未登录可正常访问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严重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6935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BUG-002</a:t>
                      </a:r>
                      <a:endParaRPr lang="en-US" altLang="zh-CN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过期 </a:t>
                      </a:r>
                      <a:r>
                        <a:rPr lang="en-US" altLang="zh-CN" sz="1100"/>
                        <a:t>Token </a:t>
                      </a:r>
                      <a:r>
                        <a:rPr lang="zh-CN" altLang="en-US" sz="1100"/>
                        <a:t>访问购物车接口无鉴权拦截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严重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8205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BUG-009</a:t>
                      </a:r>
                      <a:endParaRPr lang="en-US" altLang="zh-CN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评价内容 </a:t>
                      </a:r>
                      <a:r>
                        <a:rPr lang="en-US" altLang="zh-CN" sz="1100"/>
                        <a:t>SQL </a:t>
                      </a:r>
                      <a:r>
                        <a:rPr lang="zh-CN" altLang="en-US" sz="1100"/>
                        <a:t>注入可成功执行，存在安全漏洞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严重</a:t>
                      </a:r>
                      <a:endParaRPr lang="zh-CN" altLang="en-US" sz="1100"/>
                    </a:p>
                  </a:txBody>
                  <a:tcPr marL="38417" marR="38417" marT="38417" marB="38417" anchor="ctr" anchorCtr="0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016000"/>
            <a:ext cx="3048000" cy="3048000"/>
          </a:xfrm>
          <a:prstGeom prst="ellipse">
            <a:avLst/>
          </a:prstGeom>
          <a:solidFill>
            <a:srgbClr val="4A90E2">
              <a:alpha val="8000"/>
            </a:srgbClr>
          </a:solidFill>
          <a:ln cap="flat" cmpd="sng">
            <a:solidFill>
              <a:srgbClr val="2E75C9">
                <a:alpha val="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5588000"/>
            <a:ext cx="2032000" cy="2032000"/>
          </a:xfrm>
          <a:prstGeom prst="ellipse">
            <a:avLst/>
          </a:prstGeom>
          <a:solidFill>
            <a:srgbClr val="9013FE">
              <a:alpha val="8000"/>
            </a:srgbClr>
          </a:solidFill>
          <a:ln cap="flat" cmpd="sng">
            <a:solidFill>
              <a:srgbClr val="7A00E5">
                <a:alpha val="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自动化测试报告解读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74700" y="1778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63600" y="203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/>
              <a:t>254</a:t>
            </a:r>
            <a:endParaRPr lang="en-US" sz="2800" b="1"/>
          </a:p>
        </p:txBody>
      </p:sp>
      <p:sp>
        <p:nvSpPr>
          <p:cNvPr id="7" name="AutoShape 7"/>
          <p:cNvSpPr/>
          <p:nvPr/>
        </p:nvSpPr>
        <p:spPr>
          <a:xfrm>
            <a:off x="8636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总执行用例数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05200" y="173101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2800" b="1"/>
              <a:t>218</a:t>
            </a:r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3631565" y="2109470"/>
            <a:ext cx="2286000" cy="494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941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2800" b="1"/>
              <a:t>36</a:t>
            </a:r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398895" y="203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246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测试失败数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53500" y="1778000"/>
            <a:ext cx="2476500" cy="1651000"/>
          </a:xfrm>
          <a:prstGeom prst="roundRect">
            <a:avLst>
              <a:gd name="adj" fmla="val 6153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6E8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2800" b="1"/>
              <a:t>86%</a:t>
            </a:r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9055100" y="2032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551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用例通过率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失败用例归因分析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5080000" cy="1079500"/>
          </a:xfrm>
          <a:prstGeom prst="roundRect">
            <a:avLst>
              <a:gd name="adj" fmla="val 7058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zh-CN" altLang="en-US" sz="1600"/>
              <a:t>后端接口业务逻辑调整未同步、测试环境网络与服务偶发异常、自动化脚本未及时迭代适配新版本，其中接口变更为失败核心诱因。</a:t>
            </a:r>
            <a:endParaRPr lang="zh-CN" altLang="en-US" sz="1600"/>
          </a:p>
        </p:txBody>
      </p:sp>
      <p:sp>
        <p:nvSpPr>
          <p:cNvPr id="19" name="AutoShape 19"/>
          <p:cNvSpPr/>
          <p:nvPr/>
        </p:nvSpPr>
        <p:spPr>
          <a:xfrm>
            <a:off x="762000" y="5651500"/>
            <a:ext cx="5080000" cy="1149350"/>
          </a:xfrm>
          <a:prstGeom prst="roundRect">
            <a:avLst>
              <a:gd name="adj" fmla="val 7058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zh-CN" altLang="en-US" sz="1600"/>
              <a:t>建立开发变更同步机制，接口调整提前同步测试人员；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优化自动化执行策略，增加容错重试逻辑，降低环境波动影响；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版本迭代后统一维护更新脚本，对失败用例跟踪闭环，持续提升脚本稳定性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20" name="AutoShape 20"/>
          <p:cNvSpPr/>
          <p:nvPr/>
        </p:nvSpPr>
        <p:spPr>
          <a:xfrm>
            <a:off x="6223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测试结论与价值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445000"/>
            <a:ext cx="5080000" cy="2286000"/>
          </a:xfrm>
          <a:prstGeom prst="roundRect">
            <a:avLst>
              <a:gd name="adj" fmla="val 3333"/>
            </a:avLst>
          </a:prstGeom>
          <a:solidFill>
            <a:srgbClr val="F0F4FA">
              <a:alpha val="100000"/>
            </a:srgbClr>
          </a:solidFill>
          <a:ln w="12700" cap="flat" cmpd="sng">
            <a:solidFill>
              <a:srgbClr val="4A90E2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23965" y="4572635"/>
            <a:ext cx="4915535" cy="1929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整体测试下来系统质量达标，版本可以正常上线。</a:t>
            </a:r>
            <a:endParaRPr lang="zh-CN" altLang="en-US" sz="1800" b="1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自动化脚本基本覆盖了支付、订单、库存这些核心流程，提前测出不少高危 </a:t>
            </a:r>
            <a:r>
              <a:rPr lang="en-US" altLang="zh-CN" sz="18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bug，</a:t>
            </a:r>
            <a:r>
              <a:rPr lang="zh-CN" altLang="en-US" sz="18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避免上线出线上事故。</a:t>
            </a:r>
            <a:endParaRPr lang="zh-CN" altLang="en-US" sz="1800" b="1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这次也确认了系统核心功能跑起来稳定，后续每次版本更新都会跑这套自动化，持续守住版本质量。</a:t>
            </a:r>
            <a:endParaRPr lang="zh-CN" altLang="en-US" sz="1800" b="1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9013F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项目难点、挑战与解决方案</a:t>
            </a:r>
            <a:endParaRPr lang="en-US" sz="1100"/>
          </a:p>
        </p:txBody>
      </p:sp>
      <p:grpSp>
        <p:nvGrpSpPr>
          <p:cNvPr id="26" name="组合 25"/>
          <p:cNvGrpSpPr/>
          <p:nvPr>
            <p:custDataLst>
              <p:tags r:id="rId1"/>
            </p:custDataLst>
          </p:nvPr>
        </p:nvGrpSpPr>
        <p:grpSpPr>
          <a:xfrm>
            <a:off x="3134995" y="1511300"/>
            <a:ext cx="5891530" cy="4699635"/>
            <a:chOff x="12640" y="2800"/>
            <a:chExt cx="5320" cy="6400"/>
          </a:xfrm>
        </p:grpSpPr>
        <p:sp>
          <p:nvSpPr>
            <p:cNvPr id="19" name="AutoShape 19"/>
            <p:cNvSpPr/>
            <p:nvPr/>
          </p:nvSpPr>
          <p:spPr>
            <a:xfrm>
              <a:off x="12640" y="2800"/>
              <a:ext cx="5320" cy="6400"/>
            </a:xfrm>
            <a:prstGeom prst="roundRect">
              <a:avLst>
                <a:gd name="adj" fmla="val 0"/>
              </a:avLst>
            </a:prstGeom>
            <a:solidFill>
              <a:srgbClr val="004D40">
                <a:alpha val="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3840" y="3300"/>
              <a:ext cx="3800" cy="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4D4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复杂业务场景全覆盖</a:t>
              </a:r>
              <a:endParaRPr lang="en-US" sz="1100"/>
            </a:p>
          </p:txBody>
        </p:sp>
        <p:cxnSp>
          <p:nvCxnSpPr>
            <p:cNvPr id="21" name="Connector 21"/>
            <p:cNvCxnSpPr/>
            <p:nvPr/>
          </p:nvCxnSpPr>
          <p:spPr>
            <a:xfrm rot="-15211">
              <a:off x="13040" y="4190"/>
              <a:ext cx="452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4D40">
                  <a:alpha val="15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AutoShape 22"/>
            <p:cNvSpPr/>
            <p:nvPr>
              <p:custDataLst>
                <p:tags r:id="rId2"/>
              </p:custDataLst>
            </p:nvPr>
          </p:nvSpPr>
          <p:spPr>
            <a:xfrm>
              <a:off x="13040" y="4500"/>
              <a:ext cx="452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5555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面临挑战</a:t>
              </a:r>
              <a:endParaRPr lang="en-US" sz="1100"/>
            </a:p>
          </p:txBody>
        </p:sp>
        <p:sp>
          <p:nvSpPr>
            <p:cNvPr id="23" name="AutoShape 23"/>
            <p:cNvSpPr/>
            <p:nvPr>
              <p:custDataLst>
                <p:tags r:id="rId3"/>
              </p:custDataLst>
            </p:nvPr>
          </p:nvSpPr>
          <p:spPr>
            <a:xfrm>
              <a:off x="13040" y="5100"/>
              <a:ext cx="4520" cy="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100"/>
                <a:t>订单、售后有多种状态，各类异常场景容易漏测，一次性跑完所有用例后故障很难快速定位。</a:t>
              </a:r>
              <a:endParaRPr lang="zh-CN" altLang="en-US" sz="1100"/>
            </a:p>
          </p:txBody>
        </p:sp>
        <p:sp>
          <p:nvSpPr>
            <p:cNvPr id="24" name="AutoShape 24"/>
            <p:cNvSpPr/>
            <p:nvPr>
              <p:custDataLst>
                <p:tags r:id="rId4"/>
              </p:custDataLst>
            </p:nvPr>
          </p:nvSpPr>
          <p:spPr>
            <a:xfrm>
              <a:off x="13040" y="6800"/>
              <a:ext cx="452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004D4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解决方案</a:t>
              </a:r>
              <a:endParaRPr lang="en-US" sz="1100"/>
            </a:p>
          </p:txBody>
        </p:sp>
        <p:sp>
          <p:nvSpPr>
            <p:cNvPr id="25" name="AutoShape 25"/>
            <p:cNvSpPr/>
            <p:nvPr>
              <p:custDataLst>
                <p:tags r:id="rId5"/>
              </p:custDataLst>
            </p:nvPr>
          </p:nvSpPr>
          <p:spPr>
            <a:xfrm>
              <a:off x="13040" y="7400"/>
              <a:ext cx="452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100"/>
                <a:t>按完整业务流程拆分测试场景，补充各类异常操作用例；自动生成测试报告，直观查看失败用例，快速定位问题。</a:t>
              </a:r>
              <a:endParaRPr lang="zh-CN" altLang="en-US" sz="11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048000" cy="3048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项目总结与学习心得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0865" y="203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项目收获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48151" y="4335824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后续改进方向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540000"/>
            <a:ext cx="10040302" cy="1454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完整的流程体验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从头到尾完整地做了一次接口测试项目，对整个流程有了清晰的认识。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技术能力提升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熟练掌握了pytest自动化测试框架和Jenkins持续集成的配置。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团队协作经验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学会了如何与团队成员高效配合，分工明确才能事半功倍。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7579" y="5184780"/>
            <a:ext cx="11608863" cy="1454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测试介入更早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以后可以尝试在开发阶段就参与测试，更早地发现和解决问题。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增加性能测试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可以学习使用JMeter等工具，对接口进行压力测试，看看系统的极限在哪里。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优化测试报告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报告可以做得更直观漂亮，比如使用Allure这样的工具，让结果一目了然。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5080000"/>
            <a:ext cx="3048000" cy="3048000"/>
          </a:xfrm>
          <a:prstGeom prst="ellipse">
            <a:avLst/>
          </a:prstGeom>
          <a:solidFill>
            <a:srgbClr val="9013FE">
              <a:alpha val="10000"/>
            </a:srgbClr>
          </a:solidFill>
          <a:ln cap="flat" cmpd="sng">
            <a:solidFill>
              <a:srgbClr val="7A00E5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2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3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4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5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6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7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8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9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10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11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12.xml><?xml version="1.0" encoding="utf-8"?>
<p:tagLst xmlns:p="http://schemas.openxmlformats.org/presentationml/2006/main">
  <p:tag name="KSO_WM_DIAGRAM_VIRTUALLY_FRAME" val="{&quot;height&quot;:188,&quot;left&quot;:60,&quot;top&quot;:125,&quot;width&quot;:850}"/>
</p:tagLst>
</file>

<file path=ppt/tags/tag13.xml><?xml version="1.0" encoding="utf-8"?>
<p:tagLst xmlns:p="http://schemas.openxmlformats.org/presentationml/2006/main">
  <p:tag name="KSO_WM_DIAGRAM_VIRTUALLY_FRAME" val="{&quot;height&quot;:393.2,&quot;left&quot;:480,&quot;top&quot;:106.8,&quot;width&quot;:440}"/>
</p:tagLst>
</file>

<file path=ppt/tags/tag14.xml><?xml version="1.0" encoding="utf-8"?>
<p:tagLst xmlns:p="http://schemas.openxmlformats.org/presentationml/2006/main">
  <p:tag name="KSO_WM_DIAGRAM_VIRTUALLY_FRAME" val="{&quot;height&quot;:393.2,&quot;left&quot;:480,&quot;top&quot;:106.8,&quot;width&quot;:440}"/>
</p:tagLst>
</file>

<file path=ppt/tags/tag15.xml><?xml version="1.0" encoding="utf-8"?>
<p:tagLst xmlns:p="http://schemas.openxmlformats.org/presentationml/2006/main">
  <p:tag name="TABLE_ENDDRAG_ORIGIN_RECT" val="460*300"/>
  <p:tag name="TABLE_ENDDRAG_RECT" val="452*155*460*300"/>
</p:tagLst>
</file>

<file path=ppt/tags/tag16.xml><?xml version="1.0" encoding="utf-8"?>
<p:tagLst xmlns:p="http://schemas.openxmlformats.org/presentationml/2006/main">
  <p:tag name="KSO_WM_DIAGRAM_VIRTUALLY_FRAME" val="{&quot;height&quot;:320,&quot;left&quot;:148.5,&quot;top&quot;:140,&quot;width&quot;:601.5}"/>
</p:tagLst>
</file>

<file path=ppt/tags/tag17.xml><?xml version="1.0" encoding="utf-8"?>
<p:tagLst xmlns:p="http://schemas.openxmlformats.org/presentationml/2006/main">
  <p:tag name="KSO_WM_DIAGRAM_VIRTUALLY_FRAME" val="{&quot;height&quot;:320,&quot;left&quot;:148.5,&quot;top&quot;:140,&quot;width&quot;:601.5}"/>
</p:tagLst>
</file>

<file path=ppt/tags/tag18.xml><?xml version="1.0" encoding="utf-8"?>
<p:tagLst xmlns:p="http://schemas.openxmlformats.org/presentationml/2006/main">
  <p:tag name="KSO_WM_DIAGRAM_VIRTUALLY_FRAME" val="{&quot;height&quot;:320,&quot;left&quot;:148.5,&quot;top&quot;:140,&quot;width&quot;:601.5}"/>
</p:tagLst>
</file>

<file path=ppt/tags/tag19.xml><?xml version="1.0" encoding="utf-8"?>
<p:tagLst xmlns:p="http://schemas.openxmlformats.org/presentationml/2006/main">
  <p:tag name="KSO_WM_DIAGRAM_VIRTUALLY_FRAME" val="{&quot;height&quot;:320,&quot;left&quot;:148.5,&quot;top&quot;:140,&quot;width&quot;:601.5}"/>
</p:tagLst>
</file>

<file path=ppt/tags/tag20.xml><?xml version="1.0" encoding="utf-8"?>
<p:tagLst xmlns:p="http://schemas.openxmlformats.org/presentationml/2006/main">
  <p:tag name="KSO_WM_DIAGRAM_VIRTUALLY_FRAME" val="{&quot;height&quot;:320,&quot;left&quot;:148.5,&quot;top&quot;:140,&quot;width&quot;:601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WPS 演示</Application>
  <PresentationFormat/>
  <Paragraphs>201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达梨</cp:lastModifiedBy>
  <cp:revision>5</cp:revision>
  <dcterms:created xsi:type="dcterms:W3CDTF">2026-07-04T14:51:00Z</dcterms:created>
  <dcterms:modified xsi:type="dcterms:W3CDTF">2026-07-06T11:24:43Z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{"Label":"1","ContentProducer":"001191110102MACQD9K64010000","ProduceID":"7658590112737135837","ReservedCode1":"","ContentPropagator":"","PropagateID":"","ReservedCode2":""}</vt:lpwstr>
  </property>
  <property fmtid="{D5CDD505-2E9C-101B-9397-08002B2CF9AE}" pid="3" name="ICV">
    <vt:lpwstr>537A5AA79A5B453CBE7976462955A665_12</vt:lpwstr>
  </property>
  <property fmtid="{D5CDD505-2E9C-101B-9397-08002B2CF9AE}" pid="4" name="KSOProductBuildVer">
    <vt:lpwstr>2052-12.1.0.26884</vt:lpwstr>
  </property>
</Properties>
</file>